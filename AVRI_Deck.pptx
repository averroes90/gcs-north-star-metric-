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14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Metric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Value Realization Index (AVRI)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54864" cy="9144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3749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BD5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"PM is a translation function, between business intent, data reality, and shippable software."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5943600"/>
            <a:ext cx="109728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Rami Ibrahimi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IT PM Candidate · Data Analytics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0" y="6126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Networks · GCS Case Study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is moving from selling deals to sustaining value.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TCV-based compensation rewarded the signature. The new ARR + consumption hybrid only pays out if customers actually use what they bought. We need ONE metric that balances four very different things.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5212080" cy="33832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2103120"/>
            <a:ext cx="5212080" cy="5029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1031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WORLD: TCV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the deal. Bank the credit.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signal: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was signed.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moment: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it closed.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incentive: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it big and walk away.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484632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to: deployment · health · sustained usage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92240" y="2103120"/>
            <a:ext cx="5212080" cy="3383280"/>
          </a:xfrm>
          <a:prstGeom prst="rect">
            <a:avLst/>
          </a:prstGeom>
          <a:solidFill>
            <a:srgbClr val="FFFBEB"/>
          </a:solidFill>
          <a:ln w="19050">
            <a:solidFill>
              <a:srgbClr val="FB923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92240" y="2103120"/>
            <a:ext cx="5212080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21031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WORLD: ARR + CONSUMPTION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2971800"/>
            <a:ext cx="1115568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720840" y="2971800"/>
            <a:ext cx="11155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20840" y="329184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927848" y="2971800"/>
            <a:ext cx="1115568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927848" y="2971800"/>
            <a:ext cx="11155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27848" y="329184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34856" y="2971800"/>
            <a:ext cx="1115568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134856" y="2971800"/>
            <a:ext cx="11155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34856" y="329184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Health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41864" y="2971800"/>
            <a:ext cx="1115568" cy="1115568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0341864" y="2971800"/>
            <a:ext cx="1115568" cy="2011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341864" y="329184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Usage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2084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 only if value is realized. Compensation must reflect the same.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20840" y="4846320"/>
            <a:ext cx="475488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20840" y="4846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Need: ONE metric that balances all four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question I'm answering: </a:t>
            </a:r>
            <a:pPr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health of an account at a point in time, balancing all four dimensions, in a single defensible number?"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· AVRI Proposal · Rami Ibrahimi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GAP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existing metric is blind to ≥1 of the four dimensions.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scored 30+ industry-standard SaaS/CS metrics against the four required dimensions. None covers all four. The closest pattern, Gainsight-style composites, has known gaps for consumption-hybrid businesses.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0080"/>
                <a:gridCol w="777240"/>
                <a:gridCol w="640080"/>
                <a:gridCol w="77724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Bkgs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Lead/Lag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TCV (Total Contract Value)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(Annual Recurring Rev)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NRR (Net Revenue Retention)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Utilization (90d)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 Health Color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Gainsight CHS (composite)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AVRI (proposed)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  </a:t>
            </a:r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  </a:t>
            </a:r>
            <a:pPr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315200" y="5166360"/>
            <a:ext cx="4389120" cy="868680"/>
          </a:xfrm>
          <a:prstGeom prst="rect">
            <a:avLst/>
          </a:prstGeom>
          <a:solidFill>
            <a:srgbClr val="FEF3C7"/>
          </a:solidFill>
          <a:ln w="19050">
            <a:solidFill>
              <a:srgbClr val="FBBF2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452360" y="521208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sz="850" b="0">
                <a:solidFill>
                  <a:srgbClr val="78350F"/>
                </a:solidFill>
                <a:latin typeface="Calibri"/>
              </a:rPr>
              <a:t>Diagonal (agree): 601 accts.  Off-diag (disagree): 129 accts.  Plus 36 onboarding (v1.3 grace, deferred).</a:t>
            </a:r>
            <a:endParaRPr lang="en-US" sz="1200" dirty="0"/>
          </a:p>
          <a:p>
            <a:pPr algn="l"/>
            <a:r>
              <a:rPr sz="1000" b="1">
                <a:solidFill>
                  <a:srgbClr val="78350F"/>
                </a:solidFill>
                <a:latin typeface="Calibri"/>
              </a:rPr>
              <a:t>AVRI surfaces 22% Red vs CHS's 19%, AND $22M ARR sits where AVRI flags risk that naive CHS misses.</a:t>
            </a:r>
          </a:p>
        </p:txBody>
      </p:sp>
      <p:sp>
        <p:nvSpPr>
          <p:cNvPr id="21" name="Text 18"/>
          <p:cNvSpPr/>
          <p:nvPr/>
        </p:nvSpPr>
        <p:spPr>
          <a:xfrm>
            <a:off x="457200" y="49834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 Buy: </a:t>
            </a:r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Gainsight CHS is the closest commercial alternative, same composite pattern, but doesn't natively handle commit-vs-consume, trajectory, or the 5 brief-specified edge cases. AVRI is that pattern, specialized for PANW's consumption-hybrid model.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· AVRI Proposal · Rami Ibrahimi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>3 / 8</a:t>
            </a:r>
            <a:endParaRPr lang="en-US" sz="9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0" y="1965960"/>
            <a:ext cx="4389120" cy="292608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AVRI × naive CHS, 730 in-scope accts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5" y="2286000"/>
            <a:ext cx="1130808" cy="292608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9015" y="2286000"/>
            <a:ext cx="11308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CHS GREEN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32975" y="2286000"/>
            <a:ext cx="1130808" cy="292608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2975" y="2286000"/>
            <a:ext cx="11308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CHS YELLOW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36935" y="2286000"/>
            <a:ext cx="1130808" cy="292608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36935" y="2286000"/>
            <a:ext cx="11308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CHS 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2651760"/>
            <a:ext cx="722376" cy="74676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651760"/>
            <a:ext cx="722376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AVRI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5" y="2651760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9015" y="2651760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444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$181.5M ARR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32975" y="2651760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ED7AA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32975" y="2651760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89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$33.5M ARR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36935" y="2651760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36935" y="2651760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0" y="3453383"/>
            <a:ext cx="722376" cy="7467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453383"/>
            <a:ext cx="722376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AVRI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9015" y="3453383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ED7AA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9015" y="3453383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7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$400K ARR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32975" y="3453383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32975" y="3453383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48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$20.2M ARR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36935" y="3453383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ED7AA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36935" y="3453383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8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$4.9M ARR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0" y="4255008"/>
            <a:ext cx="722376" cy="746760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4255008"/>
            <a:ext cx="722376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AVRI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29015" y="4255008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29015" y="4255008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32975" y="4255008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ED7AA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2975" y="4255008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25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$16.9M ARR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536935" y="4255008"/>
            <a:ext cx="1130808" cy="74676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36935" y="4255008"/>
            <a:ext cx="1130808" cy="746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Calibri"/>
              </a:rPr>
              <a:t>109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Calibri"/>
              </a:rPr>
              <a:t>$47.7M ARR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PROPOSAL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2200" b="1">
                <a:solidFill>
                  <a:srgbClr val="0F172A"/>
                </a:solidFill>
                <a:latin typeface="Calibri"/>
              </a:rPr>
              <a:t>AVRI: the quality term — 0–100 composite that balances all four dimensions.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80160"/>
            <a:ext cx="109728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" y="1508760"/>
            <a:ext cx="54864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Realization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14813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30%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17320" y="1810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they using what they paid for?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1214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consumption ÷ 90-day commit. Piecewise: penalize &lt;50%, plateau 50–110%, gentle decay &gt;150%.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26480" y="1280160"/>
            <a:ext cx="109728" cy="1417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08660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Momentum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87000" y="14813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30%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18105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consumption holding up?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86600" y="21214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avg ÷ 12-month baseline. Catches spike-and-drop. Level guard zeros UM if annual usage &lt;5% of commit.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2880360"/>
            <a:ext cx="109728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31520" y="3108960"/>
            <a:ext cx="5486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3152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Maturity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30815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20%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17320" y="34107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product genuinely operationalized?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17320" y="37216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 in last 90 ÷ 90. Production version: also license provisioning, feature breadth, milestones.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26480" y="2880360"/>
            <a:ext cx="109728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400800" y="3108960"/>
            <a:ext cx="548640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008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86600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Health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287000" y="30815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20%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086600" y="341071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work for them?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086600" y="37216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Exponentially-decayed health color (0.95/day). Production: also Sev-1 freq, SLA attainment, escalations.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4572000"/>
            <a:ext cx="704088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457200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AVRI = 0.30·CR + 0.30·UM + 0.20·DM + 0.20·TH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680960" y="4572000"/>
            <a:ext cx="4023360" cy="64008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680960" y="45720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rule: </a:t>
            </a:r>
            <a:pPr algn="ctr"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 &lt; 30, cap AVRI at 50.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349240"/>
            <a:ext cx="3611880" cy="640080"/>
          </a:xfrm>
          <a:prstGeom prst="rect">
            <a:avLst/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57200" y="5349240"/>
            <a:ext cx="9144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0080" y="54041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≥ 75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5696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· expand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06240" y="5349240"/>
            <a:ext cx="3611880" cy="640080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206240" y="5349240"/>
            <a:ext cx="91440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389120" y="54041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 50–74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389120" y="5696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· CSM action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955280" y="5349240"/>
            <a:ext cx="3611880" cy="64008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7955280" y="5349240"/>
            <a:ext cx="9144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138160" y="54041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 &lt; 50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138160" y="5696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 · escalate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7200" y="606247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 — Activation Grace: 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newly-signed contracts excluded from CR until cumulative usage ≥ 15% of monthly commit OR 90 days elapsed (whichever first). Signing a deal never penalizes a CSM during ramp.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· AVRI Proposal · Rami Ibrahimi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05 · QUALITY ×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43000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Calibri"/>
              </a:rPr>
              <a:t>Realized Value: AVRI is velocity. RV is momentum. Both belong on the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AVRI scores quality of execution; segment-fair and comp-grade. RV composes ARR with AVRI to surface dollars at stake; the executive-dashboard metric. Three uses, three consumers, one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4846320" cy="12344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4480559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Calibri"/>
              </a:rPr>
              <a:t>THE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79"/>
            <a:ext cx="4480559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RV  =  ARR  ×  AVRI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4480559" cy="32004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Calibri"/>
              </a:rPr>
              <a:t>Linear v1.  Decomposable.  Calibratable.  Onboarding accounts contribute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46120"/>
            <a:ext cx="23774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1945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Decomposes by pillar.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Σ of CR + UM + DM + TH + Floor losses = total unrealized $.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3246120"/>
            <a:ext cx="23774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219456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Sums at every level.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Account → CSM → Region → Org. Numbers reconcile.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874519"/>
            <a:ext cx="6309360" cy="12344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1947672"/>
            <a:ext cx="5943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Calibri"/>
              </a:rPr>
              <a:t>THE HEADLINE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2377439"/>
            <a:ext cx="4610209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77439"/>
            <a:ext cx="4610209" cy="365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Realized $226M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0929" y="2377439"/>
            <a:ext cx="1333390" cy="3657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0929" y="2377439"/>
            <a:ext cx="1333390" cy="365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Unrealized $65M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88920"/>
            <a:ext cx="59436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$291M ARR  ·  Realizing 78%  ·  $65M unrealized  ·  40 accounts in grace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3246120"/>
            <a:ext cx="6309360" cy="64008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79" y="3291839"/>
            <a:ext cx="61264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UNREALIZED $ BY PILLAR (org-wide)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79" y="3538727"/>
            <a:ext cx="2024374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3538727"/>
            <a:ext cx="2024374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CR $22M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93654" y="3538727"/>
            <a:ext cx="143006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3654" y="3538727"/>
            <a:ext cx="1430062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UM $15M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23717" y="3538727"/>
            <a:ext cx="686540" cy="274320"/>
          </a:xfrm>
          <a:prstGeom prst="rect">
            <a:avLst/>
          </a:prstGeom>
          <a:solidFill>
            <a:srgbClr val="65A3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3717" y="3538727"/>
            <a:ext cx="68654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DM $7M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0257" y="3538727"/>
            <a:ext cx="1531301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0257" y="3538727"/>
            <a:ext cx="1531301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TH $16M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341559" y="3538727"/>
            <a:ext cx="45420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41559" y="3538727"/>
            <a:ext cx="4542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Fl $5M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572000"/>
            <a:ext cx="3718560" cy="14173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254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4360" y="4681728"/>
            <a:ext cx="1463040" cy="292608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81728"/>
            <a:ext cx="1463040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AVRI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4681728"/>
            <a:ext cx="1889759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059669"/>
                </a:solidFill>
                <a:latin typeface="Calibri"/>
              </a:rPr>
              <a:t>QUALITY OF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074920"/>
            <a:ext cx="3352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Segment-fair, comp-grade. Used for CSM evaluation, performance review, and the case-study disagreements with naive CHS.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12920" y="4572000"/>
            <a:ext cx="3718560" cy="14173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50080" y="4681728"/>
            <a:ext cx="1463040" cy="292608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0080" y="4681728"/>
            <a:ext cx="1463040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4560" y="4681728"/>
            <a:ext cx="1889759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Calibri"/>
              </a:rPr>
              <a:t>VALUE AT STAKE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5800" y="5074920"/>
            <a:ext cx="3352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Scale-aware. Used for executive risk concentration: "where are dollars leaking?" Drives the dashboard's headline and pillar heatmap.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68640" y="4572000"/>
            <a:ext cx="3718560" cy="14173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05800" y="4681728"/>
            <a:ext cx="1463040" cy="292608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5800" y="4681728"/>
            <a:ext cx="1463040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UNREALIZED $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60280" y="4681728"/>
            <a:ext cx="1889759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OPERATIONAL TRIAGE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1520" y="5074920"/>
            <a:ext cx="3352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Account-level. Used by individual CSMs to triage their book: "which 5 accounts have the most $ at risk this week?"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6080760"/>
            <a:ext cx="11430000" cy="3657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080760"/>
            <a:ext cx="11430000" cy="365760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78350F"/>
                </a:solidFill>
                <a:latin typeface="Calibri"/>
              </a:rPr>
              <a:t>Why linear, not quadratic? Decomposability + honesty (no curvature without renewal data) + calibratability for v3.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GCS North Star · AVRI Proposal · Rami Ibrahimi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l">
              <a:buNone/>
            </a:pPr>
            <a:r>
              <a:rPr sz="1100" b="1">
                <a:solidFill>
                  <a:srgbClr val="EA580C"/>
                </a:solidFill>
                <a:latin typeface="Calibri"/>
              </a:rPr>
              <a:t>06 · THE PROOF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2200" b="1">
                <a:solidFill>
                  <a:srgbClr val="0F172A"/>
                </a:solidFill>
                <a:latin typeface="Calibri"/>
              </a:rPr>
              <a:t>Three disagreements with naive CHS, each validating a different design choice.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l">
              <a:buNone/>
            </a:pPr>
            <a:r>
              <a:rPr sz="1100" b="0">
                <a:solidFill>
                  <a:srgbClr val="475569"/>
                </a:solidFill>
                <a:latin typeface="Calibri"/>
              </a:rPr>
              <a:t>Three representative cells from the AVRI × CHS matrix on slide 3. Each off-diagonal disagreement validates a specific AVRI mechanism: floor rule, decay-weighted TH, and consumption-dominant weighting.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82880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828800"/>
            <a:ext cx="3703320" cy="4572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FLOOR RULE FIRES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800" b="1">
                <a:solidFill>
                  <a:srgbClr val="0F172A"/>
                </a:solidFill>
                <a:latin typeface="Calibri"/>
              </a:rPr>
              <a:t>ACC-00026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Healthcare  ·  $165K ARR  ·  130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3154680"/>
            <a:ext cx="3246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059669"/>
                </a:solidFill>
                <a:latin typeface="Calibri"/>
              </a:rPr>
              <a:t>CHS  78  (green)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32461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D97706"/>
                </a:solidFill>
                <a:latin typeface="Calibri"/>
              </a:rPr>
              <a:t>AVRI  50  (yellow)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48840" y="35204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3840480"/>
            <a:ext cx="3246120" cy="960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1">
                <a:solidFill>
                  <a:srgbClr val="475569"/>
                </a:solidFill>
                <a:latin typeface="Calibri"/>
              </a:rPr>
              <a:t>Cell: AVRI Yellow × CHS Green</a:t>
            </a:r>
            <a:endParaRPr lang="en-US" sz="1050" dirty="0"/>
          </a:p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RV $83K  ·  Unrealized $83K (50% of book on this account)</a:t>
            </a:r>
          </a:p>
          <a:p>
            <a:pPr algn="l"/>
            <a:r>
              <a:rPr sz="400" b="0">
                <a:solidFill>
                  <a:srgbClr val="475569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All three consumption pillars at 100, but TH = 28.5. Floor rule caps AVRI at 50 — refuses to let usage paper over a tech-health crisis. Without the rule, AVRI = 86 (Green). CHS has no analog.</a:t>
            </a:r>
          </a:p>
        </p:txBody>
      </p:sp>
      <p:sp>
        <p:nvSpPr>
          <p:cNvPr id="18" name="Shape 16"/>
          <p:cNvSpPr/>
          <p:nvPr/>
        </p:nvSpPr>
        <p:spPr>
          <a:xfrm>
            <a:off x="4325112" y="1828800"/>
            <a:ext cx="3703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25112" y="1828800"/>
            <a:ext cx="370332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325112" y="1828800"/>
            <a:ext cx="370332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DECAY WEIGHTING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53712" y="24231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800" b="1">
                <a:solidFill>
                  <a:srgbClr val="0F172A"/>
                </a:solidFill>
                <a:latin typeface="Calibri"/>
              </a:rPr>
              <a:t>ACC-00876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53712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Manufacturing  ·  $246K ARR  ·  215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53712" y="3154680"/>
            <a:ext cx="3246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53712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D97706"/>
                </a:solidFill>
                <a:latin typeface="Calibri"/>
              </a:rPr>
              <a:t>CHS  57  (yellow)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16752" y="32461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059669"/>
                </a:solidFill>
                <a:latin typeface="Calibri"/>
              </a:rPr>
              <a:t>AVRI  92  (green)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16752" y="35204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53712" y="3840480"/>
            <a:ext cx="3246120" cy="960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90872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1">
                <a:solidFill>
                  <a:srgbClr val="475569"/>
                </a:solidFill>
                <a:latin typeface="Calibri"/>
              </a:rPr>
              <a:t>Cell: AVRI Green × CHS Yellow</a:t>
            </a:r>
            <a:endParaRPr lang="en-US" sz="1050" dirty="0"/>
          </a:p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RV $227K  ·  Unrealized $19K (the easy-win contrast)</a:t>
            </a:r>
          </a:p>
          <a:p>
            <a:pPr algn="l"/>
            <a:r>
              <a:rPr sz="400" b="0">
                <a:solidFill>
                  <a:srgbClr val="475569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All pillars high; latest health color happened to be red (one bad week). CHS over-penalizes recency. AVRI's 90-day decay-weighted TH (≈61) sees the trend, not a single data point.</a:t>
            </a:r>
          </a:p>
        </p:txBody>
      </p:sp>
      <p:sp>
        <p:nvSpPr>
          <p:cNvPr id="30" name="Shape 28"/>
          <p:cNvSpPr/>
          <p:nvPr/>
        </p:nvSpPr>
        <p:spPr>
          <a:xfrm>
            <a:off x="8193024" y="1828800"/>
            <a:ext cx="37033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193024" y="1828800"/>
            <a:ext cx="370332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193024" y="1828800"/>
            <a:ext cx="3703320" cy="457200"/>
          </a:xfrm>
          <a:prstGeom prst="rect">
            <a:avLst/>
          </a:prstGeom>
          <a:solidFill>
            <a:srgbClr val="DC26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AVRI ESCALATES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21624" y="24231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800" b="1">
                <a:solidFill>
                  <a:srgbClr val="0F172A"/>
                </a:solidFill>
                <a:latin typeface="Calibri"/>
              </a:rPr>
              <a:t>ACC-00298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21624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000" b="0">
                <a:solidFill>
                  <a:srgbClr val="475569"/>
                </a:solidFill>
                <a:latin typeface="Calibri"/>
              </a:rPr>
              <a:t>Financial Services  ·  $325K ARR  ·  332 days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421624" y="3154680"/>
            <a:ext cx="3246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421624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D97706"/>
                </a:solidFill>
                <a:latin typeface="Calibri"/>
              </a:rPr>
              <a:t>CHS  57  (yellow)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884664" y="32461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21624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1150" b="1">
                <a:solidFill>
                  <a:srgbClr val="DC2626"/>
                </a:solidFill>
                <a:latin typeface="Calibri"/>
              </a:rPr>
              <a:t>AVRI  24  (red)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884664" y="35204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/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421624" y="3840480"/>
            <a:ext cx="3246120" cy="9601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558784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l">
              <a:buNone/>
            </a:pPr>
            <a:r>
              <a:rPr sz="900" b="1">
                <a:solidFill>
                  <a:srgbClr val="475569"/>
                </a:solidFill>
                <a:latin typeface="Calibri"/>
              </a:rPr>
              <a:t>Cell: AVRI Red × CHS Yellow  ·  most-common disagreement</a:t>
            </a:r>
            <a:endParaRPr lang="en-US" sz="1050" dirty="0"/>
          </a:p>
          <a:p>
            <a:pPr algn="l"/>
            <a:r>
              <a:rPr sz="900" b="1">
                <a:solidFill>
                  <a:srgbClr val="EA580C"/>
                </a:solidFill>
                <a:latin typeface="Calibri"/>
              </a:rPr>
              <a:t>RV $77K  ·  Unrealized $248K (the renewal landmine)</a:t>
            </a:r>
          </a:p>
          <a:p>
            <a:pPr algn="l"/>
            <a:r>
              <a:rPr sz="400" b="0">
                <a:solidFill>
                  <a:srgbClr val="475569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0F172A"/>
                </a:solidFill>
                <a:latin typeface="Calibri"/>
              </a:rPr>
              <a:t>5% util, no momentum, sparse engagement — three pillars in collapse. CHS sees ARR + recent green color and says 'watch.' AVRI escalates. 25 accounts / $16.9M ARR sit in this cell.</a:t>
            </a:r>
          </a:p>
        </p:txBody>
      </p:sp>
      <p:sp>
        <p:nvSpPr>
          <p:cNvPr id="42" name="Shape 40"/>
          <p:cNvSpPr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solidFill>
            <a:srgbClr val="0F172A"/>
          </a:solidFill>
          <a:ln w="254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Streamlit · At-Risk Renewals tab · </a:t>
            </a:r>
            <a:pPr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$10.3M across 20 accounts renewing in 90 days, flagged Yellow or Red.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457200" y="5623560"/>
            <a:ext cx="5486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94360" y="5623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   </a:t>
            </a:r>
            <a:pPr indent="0" marL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AVRI scores; dashboard surfaces; CSM acts. The metric directs the human, not replaces them.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126480" y="5623560"/>
            <a:ext cx="557784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63640" y="5623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 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% of Red accounts churning in 90d   (2) Reduction in Green→Lost surprise renewals   (3) Expansion conversion in 110–150% util band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· AVRI Proposal · Rami Ibrahimi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l">
              <a:buNone/>
            </a:pPr>
            <a:r>
              <a:rPr sz="1100" b="1">
                <a:solidFill>
                  <a:srgbClr val="EA580C"/>
                </a:solidFill>
                <a:latin typeface="Calibri"/>
              </a:rPr>
              <a:t>07 · RETROSPECTIVE +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learned, what v2 looks like, how to ship it.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end-to-end in ~8 hours of focused spec-driven AI work: data generator (Python), BigQuery pipeline (SQL), dashboard (Streamlit), 13 documented pitfalls captured in lessons_learned.md. Below: what changes next.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6728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920240"/>
            <a:ext cx="3672840" cy="7315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31520" y="2176272"/>
            <a:ext cx="457200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2176272"/>
            <a:ext cx="275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+ what I'd 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124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2834640"/>
            <a:ext cx="31699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first, AI codes, the markdown specs are what survive.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workflow (data → metrics → refine) beats deductive, stronger narrative for the panel.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Pre-write validation gates caught structural problems before BigQuery.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build CI from day one, would've caught UM zero-baseline bug 2 hours earlier.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LLMs for code-gen vs code-review.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58640" y="1920240"/>
            <a:ext cx="36728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358640" y="1920240"/>
            <a:ext cx="3672840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32960" y="2176272"/>
            <a:ext cx="45720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3296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81600" y="2176272"/>
            <a:ext cx="275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AVRI v2, newer tech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32960" y="2697480"/>
            <a:ext cx="3124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32960" y="2834640"/>
            <a:ext cx="31699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■"/>
            </a:pPr>
            <a:r>
              <a:rPr sz="1000" b="1">
                <a:solidFill>
                  <a:srgbClr val="EA580C"/>
                </a:solidFill>
                <a:latin typeface="Calibri"/>
              </a:rPr>
              <a:t>v2 SHIPPED: Realized Value (linear), pillar decomposition, calibration sandbox, 29 DQ tests pass.</a:t>
            </a:r>
            <a:endParaRPr lang="en-US" sz="1050" dirty="0"/>
          </a:p>
          <a:p>
            <a:pPr algn="l"/>
            <a:r>
              <a:rPr sz="400" b="0">
                <a:solidFill>
                  <a:srgbClr val="475569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Agentic DQ: agent watches the pipeline, surfaces anomalies in Slack autonomously.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LLM-summarized account briefs: per at-risk acct, generate CSM-ready talking points from history.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Per-segment AVRI weight tuning (Enterprise vs Mid-Market), calibrated against renewal correlation.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Sigmoidal RV: refit AVRI→realized-revenue function from historical renewals.</a:t>
            </a:r>
          </a:p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Replace TH proxies with real signal: Sev-1 frequency, SLA attainment, escalations.</a:t>
            </a:r>
          </a:p>
        </p:txBody>
      </p:sp>
      <p:sp>
        <p:nvSpPr>
          <p:cNvPr id="20" name="Shape 18"/>
          <p:cNvSpPr/>
          <p:nvPr/>
        </p:nvSpPr>
        <p:spPr>
          <a:xfrm>
            <a:off x="8260080" y="1920240"/>
            <a:ext cx="36728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60080" y="1920240"/>
            <a:ext cx="3672840" cy="7315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534400" y="2176272"/>
            <a:ext cx="45720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3440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83040" y="2176272"/>
            <a:ext cx="275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30/60/90 day rollout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34400" y="2697480"/>
            <a:ext cx="3124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34400" y="2834640"/>
            <a:ext cx="31699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30, Validate AVRI against historical renewal outcomes; calibrate weights via regression.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60, Integrate ticket data + license provisioning; replace proxy signals.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90, Roll into CSM compensation as a 25% factor (alongside book ARR retention).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180, Dashboard goes from prototype to production (Looker/Tableau for execs; Streamlit retained for diagnostics).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365, Re-tune weights based on first full year of data.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B9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repo is reproducible end-to-end. Anyone on your team can clone it and have AVRI scoring real data on day one.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North Star · AVRI Proposal · Rami Ibrahimi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sz="900" b="0">
                <a:solidFill>
                  <a:srgbClr val="94A3B8"/>
                </a:solidFill>
                <a:latin typeface="Calibri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APPENDIX  · 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Calibri"/>
              </a:rPr>
              <a:t>How AVRI handles the brief's five edge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Each edge case is answered at the right altitude — pillar mechanism, pipeline logic, or DQ layer. Naive CHS treats every problem as a scoring problem; AVRI separates structural design from data-quality.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219456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EDGE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874519"/>
            <a:ext cx="329184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7F1D1D"/>
                </a:solidFill>
                <a:latin typeface="Calibri"/>
              </a:rPr>
              <a:t>NAIVE CHS HANDLING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874519"/>
            <a:ext cx="393192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14532D"/>
                </a:solidFill>
                <a:latin typeface="Calibri"/>
              </a:rPr>
              <a:t>AVRI 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0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475569"/>
                </a:solidFill>
                <a:latin typeface="Calibri"/>
              </a:rPr>
              <a:t>VERDICT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59"/>
            <a:ext cx="320040" cy="6309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39"/>
            <a:ext cx="1783080" cy="7223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Spike &amp; Drop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~5%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194559"/>
            <a:ext cx="3246120" cy="630936"/>
          </a:xfrm>
          <a:prstGeom prst="roundRect">
            <a:avLst>
              <a:gd name="adj" fmla="val 1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194559"/>
            <a:ext cx="324612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Recent health color still green from burst period. ARR component still high. Hedges to Yellow.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94559"/>
            <a:ext cx="3886200" cy="630936"/>
          </a:xfrm>
          <a:prstGeom prst="roundRect">
            <a:avLst>
              <a:gd name="adj" fmla="val 18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194559"/>
            <a:ext cx="388620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14532D"/>
                </a:solidFill>
                <a:latin typeface="Calibri"/>
              </a:rPr>
              <a:t>UM level guard fires when 90d/annual usage collapses. CR window-based (90d, not annual) catches the drop.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95560" y="2240279"/>
            <a:ext cx="1371600" cy="329184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95560" y="2240279"/>
            <a:ext cx="137160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60" y="2606039"/>
            <a:ext cx="1371600" cy="2194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475569"/>
                </a:solidFill>
                <a:latin typeface="Calibri"/>
              </a:rPr>
              <a:t>UM · 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799"/>
            <a:ext cx="320040" cy="6309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26079"/>
            <a:ext cx="1783080" cy="7223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Shelfware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~10%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2971799"/>
            <a:ext cx="3246120" cy="630936"/>
          </a:xfrm>
          <a:prstGeom prst="roundRect">
            <a:avLst>
              <a:gd name="adj" fmla="val 1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971799"/>
            <a:ext cx="324612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ARR component (often 30%+ weight) props score into the 30–50 range. Looks like a 'watch' account, not an emergency.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971799"/>
            <a:ext cx="3886200" cy="630936"/>
          </a:xfrm>
          <a:prstGeom prst="roundRect">
            <a:avLst>
              <a:gd name="adj" fmla="val 18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971799"/>
            <a:ext cx="388620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14532D"/>
                </a:solidFill>
                <a:latin typeface="Calibri"/>
              </a:rPr>
              <a:t>ARR not a pillar. Three pillars collapse (CR≈0, UM≈0, DM≈0). Even perfect TH pulls AVRI to ~20.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3017520"/>
            <a:ext cx="1371600" cy="329184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3017520"/>
            <a:ext cx="137160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DEEP 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5560" y="3383279"/>
            <a:ext cx="1371600" cy="2194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475569"/>
                </a:solidFill>
                <a:latin typeface="Calibri"/>
              </a:rPr>
              <a:t>CR · UM · DM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749039"/>
            <a:ext cx="320040" cy="6309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703320"/>
            <a:ext cx="1783080" cy="7223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Consistent Overage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~15%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88920" y="3749039"/>
            <a:ext cx="3246120" cy="630936"/>
          </a:xfrm>
          <a:prstGeom prst="roundRect">
            <a:avLst>
              <a:gd name="adj" fmla="val 1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88920" y="3749039"/>
            <a:ext cx="324612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Caps util at 100% or penalizes anything above. 130%-util account scores Yellow; CSM told to 'manage burn rate.'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3749039"/>
            <a:ext cx="3886200" cy="630936"/>
          </a:xfrm>
          <a:prstGeom prst="roundRect">
            <a:avLst>
              <a:gd name="adj" fmla="val 18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3749039"/>
            <a:ext cx="388620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14532D"/>
                </a:solidFill>
                <a:latin typeface="Calibri"/>
              </a:rPr>
              <a:t>CR is piecewise: 50–110% util = full credit (sweet zone). 110–150% = gentle decay. 200%+ = hard zero.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95560" y="3794759"/>
            <a:ext cx="1371600" cy="32918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95560" y="3794759"/>
            <a:ext cx="137160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GREEN + expansion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5560" y="4160520"/>
            <a:ext cx="1371600" cy="2194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475569"/>
                </a:solidFill>
                <a:latin typeface="Calibri"/>
              </a:rPr>
              <a:t>CR plateau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526279"/>
            <a:ext cx="320040" cy="6309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4480559"/>
            <a:ext cx="1783080" cy="7223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Mid-Year Expansion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~5%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88920" y="4526279"/>
            <a:ext cx="3246120" cy="630936"/>
          </a:xfrm>
          <a:prstGeom prst="roundRect">
            <a:avLst>
              <a:gd name="adj" fmla="val 1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4526279"/>
            <a:ext cx="324612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Takes latest contract only (loses original commit) OR sums both regardless of date overlap (double-counts).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526279"/>
            <a:ext cx="3886200" cy="630936"/>
          </a:xfrm>
          <a:prstGeom prst="roundRect">
            <a:avLst>
              <a:gd name="adj" fmla="val 18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4526279"/>
            <a:ext cx="388620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14532D"/>
                </a:solidFill>
                <a:latin typeface="Calibri"/>
              </a:rPr>
              <a:t>Denominator at any point in time = SUM of active commits for any contract whose date range covers that point.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95560" y="4571999"/>
            <a:ext cx="1371600" cy="32918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4571999"/>
            <a:ext cx="137160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 distortion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4937759"/>
            <a:ext cx="1371600" cy="2194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475569"/>
                </a:solidFill>
                <a:latin typeface="Calibri"/>
              </a:rPr>
              <a:t>Pipeline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303520"/>
            <a:ext cx="320040" cy="6309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257800"/>
            <a:ext cx="1783080" cy="7223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Orphan / Rogue Usage</a:t>
            </a:r>
          </a:p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~300 logs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88920" y="5303520"/>
            <a:ext cx="3246120" cy="630936"/>
          </a:xfrm>
          <a:prstGeom prst="roundRect">
            <a:avLst>
              <a:gd name="adj" fmla="val 1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88920" y="5303520"/>
            <a:ext cx="324612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LEFT JOIN shortcut: orphan logs vanish silently; out-of-window logs credited as billable. Rollups inflate.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303520"/>
            <a:ext cx="3886200" cy="630936"/>
          </a:xfrm>
          <a:prstGeom prst="roundRect">
            <a:avLst>
              <a:gd name="adj" fmla="val 18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5303520"/>
            <a:ext cx="3886200" cy="630936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14532D"/>
                </a:solidFill>
                <a:latin typeface="Calibri"/>
              </a:rPr>
              <a:t>Pipeline INNER JOINs daily_usage_logs to contracts on date range. Out-of-scope rows excluded from CR/UM.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5560" y="5349240"/>
            <a:ext cx="1371600" cy="329184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5349240"/>
            <a:ext cx="137160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QUARANTINED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5560" y="5715000"/>
            <a:ext cx="1371600" cy="21945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900" b="1">
                <a:solidFill>
                  <a:srgbClr val="475569"/>
                </a:solidFill>
                <a:latin typeface="Calibri"/>
              </a:rPr>
              <a:t>DQ layer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6126479"/>
            <a:ext cx="11247120" cy="50292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126479"/>
            <a:ext cx="11247120" cy="502920"/>
          </a:xfrm>
          <a:prstGeom prst="rect">
            <a:avLst/>
          </a:prstGeom>
          <a:noFill/>
        </p:spPr>
        <p:txBody>
          <a:bodyPr wrap="square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78350F"/>
                </a:solidFill>
                <a:latin typeface="Calibri"/>
              </a:rPr>
              <a:t>3 of 5 edge cases caught by structural pillar design  ·  1 by pipeline logic  ·  1 by data-quality layer.  Different problems, answered at the right altitude.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GCS North Star · AVRI Proposal · Rami Ibrahimi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92240"/>
            <a:ext cx="6400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Palo Alto Networks · Principal IT PM Case Study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GCS North Star: Account Value Realization Index</dc:title>
  <dc:subject>PptxGenJS Presentation</dc:subject>
  <dc:creator>Rami Ibrahimi</dc:creator>
  <cp:lastModifiedBy>Rami Ibrahimi</cp:lastModifiedBy>
  <cp:revision>1</cp:revision>
  <dcterms:created xsi:type="dcterms:W3CDTF">2026-05-04T20:07:57Z</dcterms:created>
  <dcterms:modified xsi:type="dcterms:W3CDTF">2026-05-04T20:07:57Z</dcterms:modified>
</cp:coreProperties>
</file>